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60" r:id="rId4"/>
    <p:sldId id="259" r:id="rId5"/>
    <p:sldId id="263" r:id="rId6"/>
    <p:sldId id="262" r:id="rId7"/>
    <p:sldId id="261" r:id="rId8"/>
    <p:sldId id="257" r:id="rId9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>
        <p:scale>
          <a:sx n="60" d="100"/>
          <a:sy n="60" d="100"/>
        </p:scale>
        <p:origin x="908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B4585E8-8C1F-4805-8DEF-D8BEDC7C668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D89EBDE3-D9A7-42A4-AB3B-22AD602C9BD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A858CA4C-231F-4B29-8454-8E593356D8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552A71-AEC8-4F88-B2C4-AE9A5740C8FD}" type="datetimeFigureOut">
              <a:rPr lang="fr-FR" smtClean="0"/>
              <a:t>19/03/2026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0E5E2C78-2951-4122-87E6-2778D5E65C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48466991-AB98-4597-B417-C2104773C9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77784-54C2-4BDA-ADF4-85CE2A47FF4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002072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3FF0212-9CD8-49E9-9064-EFF730CB48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3814277-3E9C-4E1B-B855-951AF5EA9F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4B5BF0FD-79A6-4EC7-A26F-D4AA93BFAD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552A71-AEC8-4F88-B2C4-AE9A5740C8FD}" type="datetimeFigureOut">
              <a:rPr lang="fr-FR" smtClean="0"/>
              <a:t>19/03/2026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3BCDCED1-552D-4646-9E13-E51CDC888A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F3DCE67D-D78F-43FA-AAED-071447CAE7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77784-54C2-4BDA-ADF4-85CE2A47FF4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910460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E6A098A-D74E-4105-8703-020860F63E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BA4A8D92-5E2D-4C29-A478-D370490613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2F6BB929-7193-47ED-8EF1-A548480613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552A71-AEC8-4F88-B2C4-AE9A5740C8FD}" type="datetimeFigureOut">
              <a:rPr lang="fr-FR" smtClean="0"/>
              <a:t>19/03/2026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6235649D-DC67-40D1-A55A-648EB91F10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2D8BA00E-6CB6-45C8-B41C-933A8AB11D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77784-54C2-4BDA-ADF4-85CE2A47FF4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17274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C569A73-2439-4532-A042-8CDE775342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A60CD1F-C6E4-4D5A-9879-3659F184E49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3390B8A6-BD1C-4205-A141-8DC63B6FD8C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484E7F83-14DD-448C-8B25-0FAF416445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552A71-AEC8-4F88-B2C4-AE9A5740C8FD}" type="datetimeFigureOut">
              <a:rPr lang="fr-FR" smtClean="0"/>
              <a:t>19/03/2026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3CEDB9F5-7F21-4ABD-8EA7-C47F2272C3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AF5D6D41-1D8A-48F0-8139-9B41430FE9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77784-54C2-4BDA-ADF4-85CE2A47FF4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424686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4D637B9-3416-4C90-9605-9849322041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E6D5C875-AC33-4E3B-B2FF-C4A98A8265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15AC8414-4E2A-49AF-A193-721C75939C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517C1BD1-392C-4355-A8F4-835F2366305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E2552C41-9317-40FB-AE76-FECCFEC0D20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EC0703FC-2BA6-4A83-A71E-E71A0F537B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552A71-AEC8-4F88-B2C4-AE9A5740C8FD}" type="datetimeFigureOut">
              <a:rPr lang="fr-FR" smtClean="0"/>
              <a:t>19/03/2026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51CDFE5F-95CB-4660-9069-B1EB44A2DF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9AA25C6F-3928-4B0C-824D-961A5ED232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77784-54C2-4BDA-ADF4-85CE2A47FF4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799824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FF9175D-C66C-483B-956E-BAF2144AD5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A89324E5-A1A8-4D4B-954D-07058A029B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552A71-AEC8-4F88-B2C4-AE9A5740C8FD}" type="datetimeFigureOut">
              <a:rPr lang="fr-FR" smtClean="0"/>
              <a:t>19/03/2026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22390B30-94FE-43C3-A3B8-28E192EE0D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15A02B0C-0C7E-4C49-BFF4-4903888643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77784-54C2-4BDA-ADF4-85CE2A47FF4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894463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4C2575C4-6E99-4793-AB68-EDBFE8757B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552A71-AEC8-4F88-B2C4-AE9A5740C8FD}" type="datetimeFigureOut">
              <a:rPr lang="fr-FR" smtClean="0"/>
              <a:t>19/03/2026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867565C2-7DE9-4B4C-9F25-039E7057E2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52CD64CB-CFC3-427C-A125-F49CF9D50C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77784-54C2-4BDA-ADF4-85CE2A47FF4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732469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57E9D76-867D-48B6-9DD3-082177A4E9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5899064-4B74-43F7-82E6-763F8E0E45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2BAA132F-4E35-41C0-9C55-8B0861EF101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58C631B2-0C09-4666-8926-489973CA80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552A71-AEC8-4F88-B2C4-AE9A5740C8FD}" type="datetimeFigureOut">
              <a:rPr lang="fr-FR" smtClean="0"/>
              <a:t>19/03/2026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4D6A3F3E-E613-4462-8516-46974C6705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F765870A-D8C7-4250-8B15-D7FD5772C9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77784-54C2-4BDA-ADF4-85CE2A47FF4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340515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E44D82C-5EDF-4BD2-8B1B-DD6ACCE300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94321052-45FE-4C13-BC8E-947CAF5BC7A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3E7C8B78-9586-416E-A3C1-AE23927AA82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893DD23A-AF97-4044-A3B3-663C383B75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552A71-AEC8-4F88-B2C4-AE9A5740C8FD}" type="datetimeFigureOut">
              <a:rPr lang="fr-FR" smtClean="0"/>
              <a:t>19/03/2026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A5239931-BD4D-4171-8B7B-C7C27D5420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D12C6FDC-8694-44D8-8AD1-4AEC347955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77784-54C2-4BDA-ADF4-85CE2A47FF4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91578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AF52DC8-C268-4336-9F00-C67E18FEC6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227822F4-BA3A-43DA-B869-BCE6E42C3A5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7B8947ED-9E96-4CAC-8871-175BFE7845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552A71-AEC8-4F88-B2C4-AE9A5740C8FD}" type="datetimeFigureOut">
              <a:rPr lang="fr-FR" smtClean="0"/>
              <a:t>19/03/2026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B375A98D-F06D-4901-85E0-E61C56B382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855285B7-4A48-41E8-AD31-56AA44C1FE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77784-54C2-4BDA-ADF4-85CE2A47FF4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781727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FA5B0EE4-7AEA-4B52-953C-ACA6D3BB0DD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F5F90BA0-B1B0-479D-B2A1-38BCBB855D2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BDEC981E-C813-4D51-9E52-32218E1B2E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552A71-AEC8-4F88-B2C4-AE9A5740C8FD}" type="datetimeFigureOut">
              <a:rPr lang="fr-FR" smtClean="0"/>
              <a:t>19/03/2026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F6728160-09FA-4C0D-8ACD-0AA52BF428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742AE87C-795F-4931-AF95-90F173A687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77784-54C2-4BDA-ADF4-85CE2A47FF4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744058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E7956003-D4F9-43FE-B721-89EF1FD191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19CA2721-0A9D-4A1C-B169-BDB6F17E23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72D8F786-A16F-4B75-B29C-2D65BA5D186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552A71-AEC8-4F88-B2C4-AE9A5740C8FD}" type="datetimeFigureOut">
              <a:rPr lang="fr-FR" smtClean="0"/>
              <a:t>19/03/2026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816D3C56-32B8-4BF3-AFDD-153CEEBC922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711ABF7F-A186-40C0-9AE8-100566CD267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0077784-54C2-4BDA-ADF4-85CE2A47FF4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868545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>
            <a:extLst>
              <a:ext uri="{FF2B5EF4-FFF2-40B4-BE49-F238E27FC236}">
                <a16:creationId xmlns:a16="http://schemas.microsoft.com/office/drawing/2014/main" id="{B7BFFE82-8A8D-448A-9B9A-9DA565B04C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72789" y="0"/>
            <a:ext cx="5445691" cy="800625"/>
          </a:xfrm>
          <a:prstGeom prst="rect">
            <a:avLst/>
          </a:prstGeom>
        </p:spPr>
      </p:pic>
      <p:graphicFrame>
        <p:nvGraphicFramePr>
          <p:cNvPr id="6" name="Tableau 5">
            <a:extLst>
              <a:ext uri="{FF2B5EF4-FFF2-40B4-BE49-F238E27FC236}">
                <a16:creationId xmlns:a16="http://schemas.microsoft.com/office/drawing/2014/main" id="{10D55750-5824-4668-A303-C8045FF623E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63262093"/>
              </p:ext>
            </p:extLst>
          </p:nvPr>
        </p:nvGraphicFramePr>
        <p:xfrm>
          <a:off x="1025958" y="1907264"/>
          <a:ext cx="8839939" cy="381186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540694">
                  <a:extLst>
                    <a:ext uri="{9D8B030D-6E8A-4147-A177-3AD203B41FA5}">
                      <a16:colId xmlns:a16="http://schemas.microsoft.com/office/drawing/2014/main" val="14447133"/>
                    </a:ext>
                  </a:extLst>
                </a:gridCol>
                <a:gridCol w="1259849">
                  <a:extLst>
                    <a:ext uri="{9D8B030D-6E8A-4147-A177-3AD203B41FA5}">
                      <a16:colId xmlns:a16="http://schemas.microsoft.com/office/drawing/2014/main" val="1765387063"/>
                    </a:ext>
                  </a:extLst>
                </a:gridCol>
                <a:gridCol w="1259849">
                  <a:extLst>
                    <a:ext uri="{9D8B030D-6E8A-4147-A177-3AD203B41FA5}">
                      <a16:colId xmlns:a16="http://schemas.microsoft.com/office/drawing/2014/main" val="91194983"/>
                    </a:ext>
                  </a:extLst>
                </a:gridCol>
                <a:gridCol w="1259849">
                  <a:extLst>
                    <a:ext uri="{9D8B030D-6E8A-4147-A177-3AD203B41FA5}">
                      <a16:colId xmlns:a16="http://schemas.microsoft.com/office/drawing/2014/main" val="58490221"/>
                    </a:ext>
                  </a:extLst>
                </a:gridCol>
                <a:gridCol w="1259849">
                  <a:extLst>
                    <a:ext uri="{9D8B030D-6E8A-4147-A177-3AD203B41FA5}">
                      <a16:colId xmlns:a16="http://schemas.microsoft.com/office/drawing/2014/main" val="3652217411"/>
                    </a:ext>
                  </a:extLst>
                </a:gridCol>
                <a:gridCol w="1259849">
                  <a:extLst>
                    <a:ext uri="{9D8B030D-6E8A-4147-A177-3AD203B41FA5}">
                      <a16:colId xmlns:a16="http://schemas.microsoft.com/office/drawing/2014/main" val="425483370"/>
                    </a:ext>
                  </a:extLst>
                </a:gridCol>
              </a:tblGrid>
              <a:tr h="816246">
                <a:tc>
                  <a:txBody>
                    <a:bodyPr/>
                    <a:lstStyle/>
                    <a:p>
                      <a:pPr algn="ctr" fontAlgn="b"/>
                      <a:r>
                        <a:rPr lang="fr-FR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       Lambda</a:t>
                      </a:r>
                    </a:p>
                    <a:p>
                      <a:pPr algn="ctr" fontAlgn="b"/>
                      <a:endParaRPr lang="fr-FR" sz="16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  <a:p>
                      <a:pPr algn="l" fontAlgn="b"/>
                      <a:r>
                        <a:rPr lang="fr-FR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     Rates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600" b="1" u="none" strike="noStrike" dirty="0">
                          <a:effectLst/>
                          <a:latin typeface="+mn-lt"/>
                        </a:rPr>
                        <a:t>Barn </a:t>
                      </a:r>
                      <a:r>
                        <a:rPr lang="fr-FR" sz="1600" b="1" u="none" strike="noStrike" dirty="0" err="1">
                          <a:effectLst/>
                          <a:latin typeface="+mn-lt"/>
                        </a:rPr>
                        <a:t>owl</a:t>
                      </a:r>
                      <a:endParaRPr lang="fr-FR" sz="16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600" b="1" u="none" strike="noStrike" dirty="0">
                          <a:effectLst/>
                          <a:latin typeface="+mn-lt"/>
                        </a:rPr>
                        <a:t>WTTB</a:t>
                      </a:r>
                      <a:endParaRPr lang="fr-FR" sz="16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600" b="1" u="none" strike="noStrike" dirty="0">
                          <a:effectLst/>
                          <a:latin typeface="+mn-lt"/>
                        </a:rPr>
                        <a:t>RTTB</a:t>
                      </a:r>
                      <a:endParaRPr lang="fr-FR" sz="16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600" b="1" u="none" strike="noStrike" dirty="0">
                          <a:effectLst/>
                          <a:latin typeface="+mn-lt"/>
                        </a:rPr>
                        <a:t>Rat</a:t>
                      </a:r>
                      <a:endParaRPr lang="fr-FR" sz="16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600" b="1" u="none" strike="noStrike" dirty="0">
                          <a:effectLst/>
                          <a:latin typeface="+mn-lt"/>
                        </a:rPr>
                        <a:t>Pied crow</a:t>
                      </a:r>
                      <a:endParaRPr lang="fr-FR" sz="16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20306916"/>
                  </a:ext>
                </a:extLst>
              </a:tr>
              <a:tr h="427946">
                <a:tc>
                  <a:txBody>
                    <a:bodyPr/>
                    <a:lstStyle/>
                    <a:p>
                      <a:pPr algn="ctr" fontAlgn="b"/>
                      <a:r>
                        <a:rPr lang="fr-FR" sz="1600" b="1" u="none" strike="noStrike">
                          <a:effectLst/>
                          <a:latin typeface="+mn-lt"/>
                        </a:rPr>
                        <a:t>Owl breeding success</a:t>
                      </a:r>
                      <a:endParaRPr lang="fr-FR" sz="160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600" u="none" strike="noStrike" dirty="0">
                          <a:effectLst/>
                          <a:latin typeface="+mn-lt"/>
                        </a:rPr>
                        <a:t>0,00444468</a:t>
                      </a:r>
                      <a:endParaRPr lang="fr-FR" sz="16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600" u="none" strike="noStrike" dirty="0">
                          <a:effectLst/>
                          <a:latin typeface="+mn-lt"/>
                        </a:rPr>
                        <a:t>3,958E-08</a:t>
                      </a:r>
                      <a:endParaRPr lang="fr-FR" sz="16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600" u="none" strike="noStrike" dirty="0">
                          <a:effectLst/>
                          <a:latin typeface="+mn-lt"/>
                        </a:rPr>
                        <a:t>1,7772E-08</a:t>
                      </a:r>
                      <a:endParaRPr lang="fr-FR" sz="16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600" u="none" strike="noStrike">
                          <a:effectLst/>
                          <a:latin typeface="+mn-lt"/>
                        </a:rPr>
                        <a:t>-6,096E-06</a:t>
                      </a:r>
                      <a:endParaRPr lang="fr-FR" sz="16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600" u="none" strike="noStrike">
                          <a:effectLst/>
                          <a:latin typeface="+mn-lt"/>
                        </a:rPr>
                        <a:t>2,7766E-09</a:t>
                      </a:r>
                      <a:endParaRPr lang="fr-FR" sz="16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14660051"/>
                  </a:ext>
                </a:extLst>
              </a:tr>
              <a:tr h="427946">
                <a:tc>
                  <a:txBody>
                    <a:bodyPr/>
                    <a:lstStyle/>
                    <a:p>
                      <a:pPr algn="ctr" fontAlgn="b"/>
                      <a:r>
                        <a:rPr lang="fr-FR" sz="1600" b="1" u="none" strike="noStrike" dirty="0" err="1">
                          <a:effectLst/>
                          <a:latin typeface="+mn-lt"/>
                        </a:rPr>
                        <a:t>Owl</a:t>
                      </a:r>
                      <a:r>
                        <a:rPr lang="fr-FR" sz="1600" b="1" u="none" strike="noStrike" dirty="0">
                          <a:effectLst/>
                          <a:latin typeface="+mn-lt"/>
                        </a:rPr>
                        <a:t> </a:t>
                      </a:r>
                      <a:r>
                        <a:rPr lang="fr-FR" sz="1600" b="1" u="none" strike="noStrike" dirty="0" err="1">
                          <a:effectLst/>
                          <a:latin typeface="+mn-lt"/>
                        </a:rPr>
                        <a:t>juvenil</a:t>
                      </a:r>
                      <a:r>
                        <a:rPr lang="fr-FR" sz="1600" b="1" u="none" strike="noStrike" dirty="0">
                          <a:effectLst/>
                          <a:latin typeface="+mn-lt"/>
                        </a:rPr>
                        <a:t> </a:t>
                      </a:r>
                      <a:r>
                        <a:rPr lang="fr-FR" sz="1600" b="1" u="none" strike="noStrike" dirty="0" err="1">
                          <a:effectLst/>
                          <a:latin typeface="+mn-lt"/>
                        </a:rPr>
                        <a:t>survival</a:t>
                      </a:r>
                      <a:r>
                        <a:rPr lang="fr-FR" sz="1600" b="1" u="none" strike="noStrike" dirty="0">
                          <a:effectLst/>
                          <a:latin typeface="+mn-lt"/>
                        </a:rPr>
                        <a:t> rate</a:t>
                      </a:r>
                      <a:endParaRPr lang="fr-FR" sz="16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600" u="none" strike="noStrike" dirty="0">
                          <a:effectLst/>
                          <a:latin typeface="+mn-lt"/>
                        </a:rPr>
                        <a:t>0,04027114</a:t>
                      </a:r>
                      <a:endParaRPr lang="fr-FR" sz="16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600" u="none" strike="noStrike">
                          <a:effectLst/>
                          <a:latin typeface="+mn-lt"/>
                        </a:rPr>
                        <a:t>2,1236E-06</a:t>
                      </a:r>
                      <a:endParaRPr lang="fr-FR" sz="16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600" u="none" strike="noStrike">
                          <a:effectLst/>
                          <a:latin typeface="+mn-lt"/>
                        </a:rPr>
                        <a:t>9,8944E-07</a:t>
                      </a:r>
                      <a:endParaRPr lang="fr-FR" sz="16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600" u="none" strike="noStrike">
                          <a:effectLst/>
                          <a:latin typeface="+mn-lt"/>
                        </a:rPr>
                        <a:t>-0,0002934</a:t>
                      </a:r>
                      <a:endParaRPr lang="fr-FR" sz="16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600" u="none" strike="noStrike">
                          <a:effectLst/>
                          <a:latin typeface="+mn-lt"/>
                        </a:rPr>
                        <a:t>3,9227E-09</a:t>
                      </a:r>
                      <a:endParaRPr lang="fr-FR" sz="16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58614260"/>
                  </a:ext>
                </a:extLst>
              </a:tr>
              <a:tr h="427946">
                <a:tc>
                  <a:txBody>
                    <a:bodyPr/>
                    <a:lstStyle/>
                    <a:p>
                      <a:pPr algn="ctr" fontAlgn="b"/>
                      <a:r>
                        <a:rPr lang="fr-FR" sz="1600" b="1" u="none" strike="noStrike">
                          <a:effectLst/>
                          <a:latin typeface="+mn-lt"/>
                        </a:rPr>
                        <a:t>Owl adult survival rate</a:t>
                      </a:r>
                      <a:endParaRPr lang="fr-FR" sz="160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600" u="none" strike="noStrike">
                          <a:effectLst/>
                          <a:latin typeface="+mn-lt"/>
                        </a:rPr>
                        <a:t>0,03294236</a:t>
                      </a:r>
                      <a:endParaRPr lang="fr-FR" sz="16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600" u="none" strike="noStrike">
                          <a:effectLst/>
                          <a:latin typeface="+mn-lt"/>
                        </a:rPr>
                        <a:t>1,6019E-06</a:t>
                      </a:r>
                      <a:endParaRPr lang="fr-FR" sz="16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600" u="none" strike="noStrike">
                          <a:effectLst/>
                          <a:latin typeface="+mn-lt"/>
                        </a:rPr>
                        <a:t>7,0996E-07</a:t>
                      </a:r>
                      <a:endParaRPr lang="fr-FR" sz="16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600" u="none" strike="noStrike">
                          <a:effectLst/>
                          <a:latin typeface="+mn-lt"/>
                        </a:rPr>
                        <a:t>-0,0002574</a:t>
                      </a:r>
                      <a:endParaRPr lang="fr-FR" sz="16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600" u="none" strike="noStrike">
                          <a:effectLst/>
                          <a:latin typeface="+mn-lt"/>
                        </a:rPr>
                        <a:t>-1,546E-08</a:t>
                      </a:r>
                      <a:endParaRPr lang="fr-FR" sz="16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75891444"/>
                  </a:ext>
                </a:extLst>
              </a:tr>
              <a:tr h="427946">
                <a:tc>
                  <a:txBody>
                    <a:bodyPr/>
                    <a:lstStyle/>
                    <a:p>
                      <a:pPr algn="ctr" fontAlgn="b"/>
                      <a:r>
                        <a:rPr lang="fr-FR" sz="1600" b="1" u="none" strike="noStrike">
                          <a:effectLst/>
                          <a:latin typeface="+mn-lt"/>
                        </a:rPr>
                        <a:t>Growth of pied cow</a:t>
                      </a:r>
                      <a:endParaRPr lang="fr-FR" sz="160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600" u="none" strike="noStrike">
                          <a:effectLst/>
                          <a:latin typeface="+mn-lt"/>
                        </a:rPr>
                        <a:t>-1,31E-10</a:t>
                      </a:r>
                      <a:endParaRPr lang="fr-FR" sz="16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600" u="none" strike="noStrike">
                          <a:effectLst/>
                          <a:latin typeface="+mn-lt"/>
                        </a:rPr>
                        <a:t>2,0558E-07</a:t>
                      </a:r>
                      <a:endParaRPr lang="fr-FR" sz="16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600" u="none" strike="noStrike" dirty="0">
                          <a:effectLst/>
                          <a:latin typeface="+mn-lt"/>
                        </a:rPr>
                        <a:t>9,0664E-08</a:t>
                      </a:r>
                      <a:endParaRPr lang="fr-FR" sz="16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600" u="none" strike="noStrike" dirty="0">
                          <a:effectLst/>
                          <a:latin typeface="+mn-lt"/>
                        </a:rPr>
                        <a:t>-0,0027611</a:t>
                      </a:r>
                      <a:endParaRPr lang="fr-FR" sz="16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600" u="none" strike="noStrike">
                          <a:effectLst/>
                          <a:latin typeface="+mn-lt"/>
                        </a:rPr>
                        <a:t>-</a:t>
                      </a:r>
                      <a:endParaRPr lang="fr-FR" sz="16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37756739"/>
                  </a:ext>
                </a:extLst>
              </a:tr>
              <a:tr h="427946">
                <a:tc>
                  <a:txBody>
                    <a:bodyPr/>
                    <a:lstStyle/>
                    <a:p>
                      <a:pPr algn="ctr" fontAlgn="b"/>
                      <a:r>
                        <a:rPr lang="fr-FR" sz="1600" b="1" u="none" strike="noStrike" dirty="0" err="1">
                          <a:effectLst/>
                          <a:latin typeface="+mn-lt"/>
                        </a:rPr>
                        <a:t>Regulation</a:t>
                      </a:r>
                      <a:r>
                        <a:rPr lang="fr-FR" sz="1600" b="1" u="none" strike="noStrike" dirty="0">
                          <a:effectLst/>
                          <a:latin typeface="+mn-lt"/>
                        </a:rPr>
                        <a:t> of pied crow</a:t>
                      </a:r>
                      <a:endParaRPr lang="fr-FR" sz="16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600" u="none" strike="noStrike">
                          <a:effectLst/>
                          <a:latin typeface="+mn-lt"/>
                        </a:rPr>
                        <a:t>1,7562E-10</a:t>
                      </a:r>
                      <a:endParaRPr lang="fr-FR" sz="16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600" u="none" strike="noStrike">
                          <a:effectLst/>
                          <a:latin typeface="+mn-lt"/>
                        </a:rPr>
                        <a:t>-2,531E-08</a:t>
                      </a:r>
                      <a:endParaRPr lang="fr-FR" sz="16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600" u="none" strike="noStrike">
                          <a:effectLst/>
                          <a:latin typeface="+mn-lt"/>
                        </a:rPr>
                        <a:t>-1,047E-08</a:t>
                      </a:r>
                      <a:endParaRPr lang="fr-FR" sz="16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600" u="none" strike="noStrike" dirty="0">
                          <a:effectLst/>
                          <a:latin typeface="+mn-lt"/>
                        </a:rPr>
                        <a:t>0,00047468</a:t>
                      </a:r>
                      <a:endParaRPr lang="fr-FR" sz="16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600" u="none" strike="noStrike" dirty="0">
                          <a:effectLst/>
                          <a:latin typeface="+mn-lt"/>
                        </a:rPr>
                        <a:t>-0,0645611</a:t>
                      </a:r>
                      <a:endParaRPr lang="fr-FR" sz="16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15695908"/>
                  </a:ext>
                </a:extLst>
              </a:tr>
              <a:tr h="427946">
                <a:tc>
                  <a:txBody>
                    <a:bodyPr/>
                    <a:lstStyle/>
                    <a:p>
                      <a:pPr algn="ctr" fontAlgn="b"/>
                      <a:r>
                        <a:rPr lang="fr-FR" sz="1600" b="1" u="none" strike="noStrike">
                          <a:effectLst/>
                          <a:latin typeface="+mn-lt"/>
                        </a:rPr>
                        <a:t>Growth of rats</a:t>
                      </a:r>
                      <a:endParaRPr lang="fr-FR" sz="160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600" u="none" strike="noStrike">
                          <a:effectLst/>
                          <a:latin typeface="+mn-lt"/>
                        </a:rPr>
                        <a:t>1,6826E-10</a:t>
                      </a:r>
                      <a:endParaRPr lang="fr-FR" sz="16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600" u="none" strike="noStrike">
                          <a:effectLst/>
                          <a:latin typeface="+mn-lt"/>
                        </a:rPr>
                        <a:t>-1,799E-05</a:t>
                      </a:r>
                      <a:endParaRPr lang="fr-FR" sz="16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600" u="none" strike="noStrike">
                          <a:effectLst/>
                          <a:latin typeface="+mn-lt"/>
                        </a:rPr>
                        <a:t>-8,563E-06</a:t>
                      </a:r>
                      <a:endParaRPr lang="fr-FR" sz="16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600" u="none" strike="noStrike">
                          <a:effectLst/>
                          <a:latin typeface="+mn-lt"/>
                        </a:rPr>
                        <a:t>-</a:t>
                      </a:r>
                      <a:endParaRPr lang="fr-FR" sz="16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600" u="none" strike="noStrike" dirty="0">
                          <a:effectLst/>
                          <a:latin typeface="+mn-lt"/>
                        </a:rPr>
                        <a:t>-1,772E-08</a:t>
                      </a:r>
                      <a:endParaRPr lang="fr-FR" sz="16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86460802"/>
                  </a:ext>
                </a:extLst>
              </a:tr>
              <a:tr h="427946">
                <a:tc>
                  <a:txBody>
                    <a:bodyPr/>
                    <a:lstStyle/>
                    <a:p>
                      <a:pPr algn="ctr" fontAlgn="b"/>
                      <a:r>
                        <a:rPr lang="fr-FR" sz="1600" b="1" u="none" strike="noStrike" dirty="0" err="1">
                          <a:effectLst/>
                          <a:latin typeface="+mn-lt"/>
                        </a:rPr>
                        <a:t>Regulation</a:t>
                      </a:r>
                      <a:r>
                        <a:rPr lang="fr-FR" sz="1600" b="1" u="none" strike="noStrike" dirty="0">
                          <a:effectLst/>
                          <a:latin typeface="+mn-lt"/>
                        </a:rPr>
                        <a:t> of rat</a:t>
                      </a:r>
                      <a:endParaRPr lang="fr-FR" sz="16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600" u="none" strike="noStrike">
                          <a:effectLst/>
                          <a:latin typeface="+mn-lt"/>
                        </a:rPr>
                        <a:t>-2,331E-10</a:t>
                      </a:r>
                      <a:endParaRPr lang="fr-FR" sz="16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600" u="none" strike="noStrike" dirty="0">
                          <a:effectLst/>
                          <a:latin typeface="+mn-lt"/>
                        </a:rPr>
                        <a:t>0,00092406</a:t>
                      </a:r>
                      <a:endParaRPr lang="fr-FR" sz="16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600" u="none" strike="noStrike" dirty="0">
                          <a:effectLst/>
                          <a:latin typeface="+mn-lt"/>
                        </a:rPr>
                        <a:t>0,00058491</a:t>
                      </a:r>
                      <a:endParaRPr lang="fr-FR" sz="16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600" u="none" strike="noStrike">
                          <a:effectLst/>
                          <a:latin typeface="+mn-lt"/>
                        </a:rPr>
                        <a:t>-0,007932</a:t>
                      </a:r>
                      <a:endParaRPr lang="fr-FR" sz="16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600" u="none" strike="noStrike" dirty="0">
                          <a:effectLst/>
                          <a:latin typeface="+mn-lt"/>
                        </a:rPr>
                        <a:t>-2,696E-08</a:t>
                      </a:r>
                      <a:endParaRPr lang="fr-FR" sz="16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2658246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403389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 6">
            <a:extLst>
              <a:ext uri="{FF2B5EF4-FFF2-40B4-BE49-F238E27FC236}">
                <a16:creationId xmlns:a16="http://schemas.microsoft.com/office/drawing/2014/main" id="{FFFF7DC4-CDD8-448B-8A5B-618EBA4E6CF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7135" y="1214054"/>
            <a:ext cx="5748865" cy="4311649"/>
          </a:xfrm>
          <a:prstGeom prst="rect">
            <a:avLst/>
          </a:prstGeom>
        </p:spPr>
      </p:pic>
      <p:pic>
        <p:nvPicPr>
          <p:cNvPr id="9" name="Image 8">
            <a:extLst>
              <a:ext uri="{FF2B5EF4-FFF2-40B4-BE49-F238E27FC236}">
                <a16:creationId xmlns:a16="http://schemas.microsoft.com/office/drawing/2014/main" id="{9B370F0C-7F30-4506-8EC2-90A8DF521E3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1224030"/>
            <a:ext cx="5735567" cy="43016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57802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>
            <a:extLst>
              <a:ext uri="{FF2B5EF4-FFF2-40B4-BE49-F238E27FC236}">
                <a16:creationId xmlns:a16="http://schemas.microsoft.com/office/drawing/2014/main" id="{E45D6969-9E76-4817-8C96-78F5079A330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44" y="1102611"/>
            <a:ext cx="5789098" cy="4341823"/>
          </a:xfrm>
          <a:prstGeom prst="rect">
            <a:avLst/>
          </a:prstGeom>
        </p:spPr>
      </p:pic>
      <p:pic>
        <p:nvPicPr>
          <p:cNvPr id="5" name="Espace réservé du contenu 4">
            <a:extLst>
              <a:ext uri="{FF2B5EF4-FFF2-40B4-BE49-F238E27FC236}">
                <a16:creationId xmlns:a16="http://schemas.microsoft.com/office/drawing/2014/main" id="{97257883-712D-45A9-8085-AB085C88DC2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18415" y="1102611"/>
            <a:ext cx="5801784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61249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>
            <a:extLst>
              <a:ext uri="{FF2B5EF4-FFF2-40B4-BE49-F238E27FC236}">
                <a16:creationId xmlns:a16="http://schemas.microsoft.com/office/drawing/2014/main" id="{995860B1-89BD-4FE2-AE3C-B994D3C17E1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0532" y="937210"/>
            <a:ext cx="5895468" cy="4421600"/>
          </a:xfrm>
          <a:prstGeom prst="rect">
            <a:avLst/>
          </a:prstGeom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6FB8E6F9-52C2-4684-974D-D407EFABC67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1" y="937210"/>
            <a:ext cx="5895467" cy="4421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73023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F847003-EEB9-4204-B7EB-A0BF763E48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2A2468E0-8D4C-44A7-8AC7-C742C77FA65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7954" y="1027906"/>
            <a:ext cx="5241851" cy="3931388"/>
          </a:xfrm>
          <a:prstGeom prst="rect">
            <a:avLst/>
          </a:prstGeom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F0B46C09-2F37-40F5-A90F-0692669CFA3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1027906"/>
            <a:ext cx="5380273" cy="40352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43758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97C3934-AED6-4E67-A436-66A0E36253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683EEC2-D06A-4E66-BFD6-9762EBDDEC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564606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E66E281-929D-45D4-B426-E736FF86E6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94C6E82-4E7E-4908-A5ED-C1629C7221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339626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 6">
            <a:extLst>
              <a:ext uri="{FF2B5EF4-FFF2-40B4-BE49-F238E27FC236}">
                <a16:creationId xmlns:a16="http://schemas.microsoft.com/office/drawing/2014/main" id="{DCE00942-C45A-430E-8B7A-60441F9A7F4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26122" y="146779"/>
            <a:ext cx="8351528" cy="6263646"/>
          </a:xfrm>
          <a:prstGeom prst="rect">
            <a:avLst/>
          </a:prstGeom>
        </p:spPr>
      </p:pic>
      <p:cxnSp>
        <p:nvCxnSpPr>
          <p:cNvPr id="10" name="Connecteur droit 9">
            <a:extLst>
              <a:ext uri="{FF2B5EF4-FFF2-40B4-BE49-F238E27FC236}">
                <a16:creationId xmlns:a16="http://schemas.microsoft.com/office/drawing/2014/main" id="{BFB5F915-7B04-46E2-B2EA-A7C2E269AAC4}"/>
              </a:ext>
            </a:extLst>
          </p:cNvPr>
          <p:cNvCxnSpPr>
            <a:cxnSpLocks/>
          </p:cNvCxnSpPr>
          <p:nvPr/>
        </p:nvCxnSpPr>
        <p:spPr>
          <a:xfrm>
            <a:off x="5778366" y="689406"/>
            <a:ext cx="0" cy="5159141"/>
          </a:xfrm>
          <a:prstGeom prst="line">
            <a:avLst/>
          </a:prstGeom>
          <a:ln w="57150">
            <a:solidFill>
              <a:srgbClr val="FF00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94284773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53</TotalTime>
  <Words>86</Words>
  <Application>Microsoft Office PowerPoint</Application>
  <PresentationFormat>Grand écran</PresentationFormat>
  <Paragraphs>50</Paragraphs>
  <Slides>8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Calibri Light</vt:lpstr>
      <vt:lpstr>Thème Office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Merlene Saunier</dc:creator>
  <cp:lastModifiedBy>Merlene Saunier</cp:lastModifiedBy>
  <cp:revision>7</cp:revision>
  <dcterms:created xsi:type="dcterms:W3CDTF">2026-03-19T11:51:20Z</dcterms:created>
  <dcterms:modified xsi:type="dcterms:W3CDTF">2026-03-19T12:45:13Z</dcterms:modified>
</cp:coreProperties>
</file>